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endParaRPr lang="en-US" dirty="0"/>
          </a:p>
          <a:p>
            <a:pPr marL="285750" indent="-285750" algn="just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b="0" sz="1800">
                <a:solidFill>
                  <a:srgbClr val="1D4F86"/>
                </a:solidFill>
              </a:rPr>
              <a:t> 26060</a:t>
            </a:r>
          </a:p>
          <a:p>
            <a:pPr marL="285750" indent="-285750" algn="just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b="0" sz="1600">
                <a:solidFill>
                  <a:srgbClr val="1D4F86"/>
                </a:solidFill>
              </a:rPr>
              <a:t> Digital Twin Platform for India's Antarctic Research Stations (Maitri &amp; Bharati)</a:t>
            </a:r>
          </a:p>
          <a:p>
            <a:pPr marL="285750" indent="-285750" algn="just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b="0" sz="1800">
                <a:solidFill>
                  <a:srgbClr val="1D4F86"/>
                </a:solidFill>
              </a:rPr>
              <a:t> Smart Automation</a:t>
            </a:r>
          </a:p>
          <a:p>
            <a:pPr marL="285750" indent="-285750" algn="just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1" sz="1800"/>
              <a:t>PS Category- </a:t>
            </a:r>
            <a:r>
              <a:rPr b="0" sz="1800">
                <a:solidFill>
                  <a:srgbClr val="1D4F86"/>
                </a:solidFill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r>
              <a:rPr b="0" sz="1800">
                <a:solidFill>
                  <a:srgbClr val="1D4F86"/>
                </a:solidFill>
              </a:rPr>
              <a:t> Commit Crew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POLARIS TWIN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commit-cr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9184"/>
            <a:ext cx="2057400" cy="533894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411480" y="1188720"/>
            <a:ext cx="6080760" cy="5074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2F5597"/>
                </a:solidFill>
                <a:latin typeface="Calibri"/>
              </a:rPr>
              <a:t>❖ </a:t>
            </a:r>
            <a:r>
              <a:rPr sz="1500" b="1" i="0">
                <a:solidFill>
                  <a:srgbClr val="2F5597"/>
                </a:solidFill>
                <a:latin typeface="Calibri"/>
              </a:rPr>
              <a:t>Proposed Solution (Describe your Idea/Solution/Prototype)</a:t>
            </a:r>
          </a:p>
          <a:p>
            <a:pPr>
              <a:buNone/>
            </a:pPr>
            <a:r>
              <a:rPr sz="1250" b="0" i="0">
                <a:solidFill>
                  <a:srgbClr val="0F1F33"/>
                </a:solidFill>
                <a:latin typeface="Calibri"/>
              </a:rPr>
              <a:t>A live digital twin of each station (buildings, generators, fuel, stores, weather and crew) shared by the NCPOR control room in Goa and the crew on the ice.</a:t>
            </a:r>
          </a:p>
          <a:p>
            <a:pPr>
              <a:buNone/>
            </a:pPr>
            <a:r>
              <a:rPr sz="300" b="0" i="0">
                <a:solidFill>
                  <a:srgbClr val="0F1F33"/>
                </a:solidFill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2F5597"/>
                </a:solidFill>
                <a:latin typeface="Calibri"/>
              </a:rPr>
              <a:t>❖ </a:t>
            </a:r>
            <a:r>
              <a:rPr sz="1500" b="1" i="0">
                <a:solidFill>
                  <a:srgbClr val="2F5597"/>
                </a:solidFill>
                <a:latin typeface="Calibri"/>
              </a:rPr>
              <a:t>Detailed explanation of the proposed solution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Web dashboard (NCPOR Goa):</a:t>
            </a:r>
            <a:r>
              <a:rPr sz="1250" b="0" i="0">
                <a:solidFill>
                  <a:srgbClr val="0F1F33"/>
                </a:solidFill>
                <a:latin typeface="Calibri"/>
              </a:rPr>
              <a:t> 3D twin, energy, logistics, environment, replay, compliance, compare, emergency mode.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Crew Android app:</a:t>
            </a:r>
            <a:r>
              <a:rPr sz="1250" b="0" i="0">
                <a:solidFill>
                  <a:srgbClr val="0F1F33"/>
                </a:solidFill>
                <a:latin typeface="Calibri"/>
              </a:rPr>
              <a:t> alerts, 2-second-hold SOS, field check-out, inventory scanning, wellbeing check-in.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Ask Polaris copilot:</a:t>
            </a:r>
            <a:r>
              <a:rPr sz="1250" b="0" i="0">
                <a:solidFill>
                  <a:srgbClr val="0F1F33"/>
                </a:solidFill>
                <a:latin typeface="Calibri"/>
              </a:rPr>
              <a:t> Gemini answers in English / हिंदी from live data and station SOPs.</a:t>
            </a:r>
          </a:p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2F5597"/>
                </a:solidFill>
                <a:latin typeface="Calibri"/>
              </a:rPr>
              <a:t>❖ </a:t>
            </a:r>
            <a:r>
              <a:rPr sz="1500" b="1" i="0">
                <a:solidFill>
                  <a:srgbClr val="2F5597"/>
                </a:solidFill>
                <a:latin typeface="Calibri"/>
              </a:rPr>
              <a:t>How it addresses the problem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0" i="0">
                <a:solidFill>
                  <a:srgbClr val="0F1F33"/>
                </a:solidFill>
                <a:latin typeface="Calibri"/>
              </a:rPr>
              <a:t>Integrates infrastructure, energy, logistics and environment in one model for remote management.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0" i="0">
                <a:solidFill>
                  <a:srgbClr val="0F1F33"/>
                </a:solidFill>
                <a:latin typeface="Calibri"/>
              </a:rPr>
              <a:t>Predicts fuel runway and generator faults before they become emergencies.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0" i="0">
                <a:solidFill>
                  <a:srgbClr val="0F1F33"/>
                </a:solidFill>
                <a:latin typeface="Calibri"/>
              </a:rPr>
              <a:t>Edge-first: the station keeps working when the satellite link drops; ≈0.5 KB delta syncs.</a:t>
            </a:r>
          </a:p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2F5597"/>
                </a:solidFill>
                <a:latin typeface="Calibri"/>
              </a:rPr>
              <a:t>❖ </a:t>
            </a:r>
            <a:r>
              <a:rPr sz="1500" b="1" i="0">
                <a:solidFill>
                  <a:srgbClr val="2F5597"/>
                </a:solidFill>
                <a:latin typeface="Calibri"/>
              </a:rPr>
              <a:t>Innovation and uniqueness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0" i="0">
                <a:solidFill>
                  <a:srgbClr val="0F1F33"/>
                </a:solidFill>
                <a:latin typeface="Calibri"/>
              </a:rPr>
              <a:t>Offline queue with SOS priority, built for Antarctic connectivity.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0" i="0">
                <a:solidFill>
                  <a:srgbClr val="0F1F33"/>
                </a:solidFill>
                <a:latin typeface="Calibri"/>
              </a:rPr>
              <a:t>One shared logic core: web, app and copilot always show the same numbers.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0" i="0">
                <a:solidFill>
                  <a:srgbClr val="0F1F33"/>
                </a:solidFill>
                <a:latin typeface="Calibri"/>
              </a:rPr>
              <a:t>Ship-delay and cold-snap what-ifs, explainable alerts with time-to-limit.</a:t>
            </a:r>
          </a:p>
        </p:txBody>
      </p:sp>
      <p:pic>
        <p:nvPicPr>
          <p:cNvPr id="15365" name="Picture 15364" descr="he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1234440"/>
            <a:ext cx="5212080" cy="3629841"/>
          </a:xfrm>
          <a:prstGeom prst="rect">
            <a:avLst/>
          </a:prstGeom>
        </p:spPr>
      </p:pic>
      <p:sp>
        <p:nvSpPr>
          <p:cNvPr id="15366" name="Rounded Rectangle 15365"/>
          <p:cNvSpPr/>
          <p:nvPr/>
        </p:nvSpPr>
        <p:spPr>
          <a:xfrm>
            <a:off x="6812280" y="4983480"/>
            <a:ext cx="4937760" cy="1143000"/>
          </a:xfrm>
          <a:prstGeom prst="roundRect">
            <a:avLst>
              <a:gd name="adj" fmla="val 8000"/>
            </a:avLst>
          </a:prstGeom>
          <a:solidFill>
            <a:srgbClr val="E7F1FD"/>
          </a:solidFill>
          <a:ln w="12700">
            <a:solidFill>
              <a:srgbClr val="C6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7" name="TextBox 15366"/>
          <p:cNvSpPr txBox="1"/>
          <p:nvPr/>
        </p:nvSpPr>
        <p:spPr>
          <a:xfrm>
            <a:off x="7040880" y="5074920"/>
            <a:ext cx="3657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buNone/>
            </a:pPr>
            <a:r>
              <a:rPr sz="1200" b="1" i="0">
                <a:solidFill>
                  <a:srgbClr val="1D4F86"/>
                </a:solidFill>
                <a:latin typeface="Calibri"/>
              </a:rPr>
              <a:t>Working prototype, live today</a:t>
            </a:r>
          </a:p>
          <a:p>
            <a:pPr>
              <a:buNone/>
            </a:pPr>
            <a:r>
              <a:rPr sz="1200" b="0" i="0">
                <a:solidFill>
                  <a:srgbClr val="0F1F33"/>
                </a:solidFill>
                <a:latin typeface="Calibri"/>
              </a:rPr>
              <a:t>polaris-twin-psi.vercel.app</a:t>
            </a:r>
          </a:p>
          <a:p>
            <a:pPr>
              <a:buNone/>
            </a:pPr>
            <a:r>
              <a:rPr sz="1200" b="0" i="0">
                <a:solidFill>
                  <a:srgbClr val="5A6B80"/>
                </a:solidFill>
                <a:latin typeface="Calibri"/>
              </a:rPr>
              <a:t>Web dashboard + Android APK (Expo)</a:t>
            </a:r>
          </a:p>
          <a:p>
            <a:pPr>
              <a:buNone/>
            </a:pPr>
            <a:r>
              <a:rPr sz="1200" b="0" i="0">
                <a:solidFill>
                  <a:srgbClr val="5A6B80"/>
                </a:solidFill>
                <a:latin typeface="Calibri"/>
              </a:rPr>
              <a:t>Simulated sensor feed; real Open-Meteo weather</a:t>
            </a:r>
          </a:p>
        </p:txBody>
      </p:sp>
      <p:pic>
        <p:nvPicPr>
          <p:cNvPr id="15368" name="Picture 15367" descr="qr-s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480" y="5074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commit-cr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9184"/>
            <a:ext cx="2057400" cy="533894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411480" y="1188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2F5597"/>
                </a:solidFill>
                <a:latin typeface="Calibri"/>
              </a:rPr>
              <a:t>❖ </a:t>
            </a:r>
            <a:r>
              <a:rPr sz="1500" b="1" i="0">
                <a:solidFill>
                  <a:srgbClr val="2F5597"/>
                </a:solidFill>
                <a:latin typeface="Calibri"/>
              </a:rPr>
              <a:t>Technologies to be used</a:t>
            </a:r>
          </a:p>
        </p:txBody>
      </p:sp>
      <p:pic>
        <p:nvPicPr>
          <p:cNvPr id="17413" name="Picture 17412" descr="nextj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37360"/>
            <a:ext cx="365760" cy="36576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960120" y="170078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150" b="1" i="0">
                <a:solidFill>
                  <a:srgbClr val="0F1F33"/>
                </a:solidFill>
                <a:latin typeface="Calibri"/>
              </a:rPr>
              <a:t>Next.js 16</a:t>
            </a:r>
          </a:p>
          <a:p>
            <a:pPr>
              <a:buNone/>
            </a:pPr>
            <a:r>
              <a:rPr sz="1150" b="0" i="0">
                <a:solidFill>
                  <a:srgbClr val="5A6B80"/>
                </a:solidFill>
                <a:latin typeface="Calibri"/>
              </a:rPr>
              <a:t>Web dashboard + API</a:t>
            </a:r>
          </a:p>
        </p:txBody>
      </p:sp>
      <p:pic>
        <p:nvPicPr>
          <p:cNvPr id="17415" name="Picture 17414" descr="re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231136"/>
            <a:ext cx="365760" cy="36576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960120" y="21945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150" b="1" i="0">
                <a:solidFill>
                  <a:srgbClr val="0F1F33"/>
                </a:solidFill>
                <a:latin typeface="Calibri"/>
              </a:rPr>
              <a:t>React · R3F / three.js</a:t>
            </a:r>
          </a:p>
          <a:p>
            <a:pPr>
              <a:buNone/>
            </a:pPr>
            <a:r>
              <a:rPr sz="1150" b="0" i="0">
                <a:solidFill>
                  <a:srgbClr val="5A6B80"/>
                </a:solidFill>
                <a:latin typeface="Calibri"/>
              </a:rPr>
              <a:t>3D digital twin</a:t>
            </a:r>
          </a:p>
        </p:txBody>
      </p:sp>
      <p:pic>
        <p:nvPicPr>
          <p:cNvPr id="17417" name="Picture 17416" descr="typescrip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724912"/>
            <a:ext cx="365760" cy="365760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960120" y="268833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150" b="1" i="0">
                <a:solidFill>
                  <a:srgbClr val="0F1F33"/>
                </a:solidFill>
                <a:latin typeface="Calibri"/>
              </a:rPr>
              <a:t>TypeScript</a:t>
            </a:r>
          </a:p>
          <a:p>
            <a:pPr>
              <a:buNone/>
            </a:pPr>
            <a:r>
              <a:rPr sz="1150" b="0" i="0">
                <a:solidFill>
                  <a:srgbClr val="5A6B80"/>
                </a:solidFill>
                <a:latin typeface="Calibri"/>
              </a:rPr>
              <a:t>Shared logic core</a:t>
            </a:r>
          </a:p>
        </p:txBody>
      </p:sp>
      <p:pic>
        <p:nvPicPr>
          <p:cNvPr id="17419" name="Picture 17418" descr="tailwi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218688"/>
            <a:ext cx="365760" cy="36576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960120" y="31821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150" b="1" i="0">
                <a:solidFill>
                  <a:srgbClr val="0F1F33"/>
                </a:solidFill>
                <a:latin typeface="Calibri"/>
              </a:rPr>
              <a:t>Tailwind CSS · shadcn/ui</a:t>
            </a:r>
          </a:p>
          <a:p>
            <a:pPr>
              <a:buNone/>
            </a:pPr>
            <a:r>
              <a:rPr sz="1150" b="0" i="0">
                <a:solidFill>
                  <a:srgbClr val="5A6B80"/>
                </a:solidFill>
                <a:latin typeface="Calibri"/>
              </a:rPr>
              <a:t>UI · Recharts charts</a:t>
            </a:r>
          </a:p>
        </p:txBody>
      </p:sp>
      <p:pic>
        <p:nvPicPr>
          <p:cNvPr id="17421" name="Picture 17420" descr="exp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712463"/>
            <a:ext cx="365760" cy="365760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960120" y="367588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150" b="1" i="0">
                <a:solidFill>
                  <a:srgbClr val="0F1F33"/>
                </a:solidFill>
                <a:latin typeface="Calibri"/>
              </a:rPr>
              <a:t>Expo (React Native)</a:t>
            </a:r>
          </a:p>
          <a:p>
            <a:pPr>
              <a:buNone/>
            </a:pPr>
            <a:r>
              <a:rPr sz="1150" b="0" i="0">
                <a:solidFill>
                  <a:srgbClr val="5A6B80"/>
                </a:solidFill>
                <a:latin typeface="Calibri"/>
              </a:rPr>
              <a:t>Crew app · EAS build</a:t>
            </a:r>
          </a:p>
        </p:txBody>
      </p:sp>
      <p:pic>
        <p:nvPicPr>
          <p:cNvPr id="17423" name="Picture 17422" descr="supab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206240"/>
            <a:ext cx="365760" cy="365760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960120" y="41696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150" b="1" i="0">
                <a:solidFill>
                  <a:srgbClr val="0F1F33"/>
                </a:solidFill>
                <a:latin typeface="Calibri"/>
              </a:rPr>
              <a:t>Supabase</a:t>
            </a:r>
          </a:p>
          <a:p>
            <a:pPr>
              <a:buNone/>
            </a:pPr>
            <a:r>
              <a:rPr sz="1150" b="0" i="0">
                <a:solidFill>
                  <a:srgbClr val="5A6B80"/>
                </a:solidFill>
                <a:latin typeface="Calibri"/>
              </a:rPr>
              <a:t>Auth · Realtime</a:t>
            </a:r>
          </a:p>
        </p:txBody>
      </p:sp>
      <p:pic>
        <p:nvPicPr>
          <p:cNvPr id="17425" name="Picture 17424" descr="postgre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700016"/>
            <a:ext cx="365760" cy="365760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960120" y="46634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150" b="1" i="0">
                <a:solidFill>
                  <a:srgbClr val="0F1F33"/>
                </a:solidFill>
                <a:latin typeface="Calibri"/>
              </a:rPr>
              <a:t>PostgreSQL</a:t>
            </a:r>
          </a:p>
          <a:p>
            <a:pPr>
              <a:buNone/>
            </a:pPr>
            <a:r>
              <a:rPr sz="1150" b="0" i="0">
                <a:solidFill>
                  <a:srgbClr val="5A6B80"/>
                </a:solidFill>
                <a:latin typeface="Calibri"/>
              </a:rPr>
              <a:t>Row-level security</a:t>
            </a:r>
          </a:p>
        </p:txBody>
      </p:sp>
      <p:pic>
        <p:nvPicPr>
          <p:cNvPr id="17427" name="Picture 17426" descr="gemin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193792"/>
            <a:ext cx="365760" cy="365760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960120" y="515721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150" b="1" i="0">
                <a:solidFill>
                  <a:srgbClr val="0F1F33"/>
                </a:solidFill>
                <a:latin typeface="Calibri"/>
              </a:rPr>
              <a:t>Google Gemini</a:t>
            </a:r>
          </a:p>
          <a:p>
            <a:pPr>
              <a:buNone/>
            </a:pPr>
            <a:r>
              <a:rPr sz="1150" b="0" i="0">
                <a:solidFill>
                  <a:srgbClr val="5A6B80"/>
                </a:solidFill>
                <a:latin typeface="Calibri"/>
              </a:rPr>
              <a:t>Ask Polaris copilot</a:t>
            </a:r>
          </a:p>
        </p:txBody>
      </p:sp>
      <p:pic>
        <p:nvPicPr>
          <p:cNvPr id="17429" name="Picture 17428" descr="verce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5687568"/>
            <a:ext cx="365760" cy="365760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960120" y="565099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150" b="1" i="0">
                <a:solidFill>
                  <a:srgbClr val="0F1F33"/>
                </a:solidFill>
                <a:latin typeface="Calibri"/>
              </a:rPr>
              <a:t>Vercel</a:t>
            </a:r>
          </a:p>
          <a:p>
            <a:pPr>
              <a:buNone/>
            </a:pPr>
            <a:r>
              <a:rPr sz="1150" b="0" i="0">
                <a:solidFill>
                  <a:srgbClr val="5A6B80"/>
                </a:solidFill>
                <a:latin typeface="Calibri"/>
              </a:rPr>
              <a:t>Hosting · Open-Meteo proxy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3977639" y="118872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2F5597"/>
                </a:solidFill>
                <a:latin typeface="Calibri"/>
              </a:rPr>
              <a:t>❖ </a:t>
            </a:r>
            <a:r>
              <a:rPr sz="1500" b="1" i="0">
                <a:solidFill>
                  <a:srgbClr val="2F5597"/>
                </a:solidFill>
                <a:latin typeface="Calibri"/>
              </a:rPr>
              <a:t>Methodology and process for implementation (Flow Charts/Images/ working prototype)</a:t>
            </a:r>
          </a:p>
        </p:txBody>
      </p:sp>
      <p:pic>
        <p:nvPicPr>
          <p:cNvPr id="17432" name="Picture 17431" descr="architectur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23360" y="1691640"/>
            <a:ext cx="7818120" cy="3922943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4023360" y="5715000"/>
            <a:ext cx="7818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1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Process:</a:t>
            </a:r>
            <a:r>
              <a:rPr sz="1150" b="0" i="0">
                <a:solidFill>
                  <a:srgbClr val="0F1F33"/>
                </a:solidFill>
                <a:latin typeface="Calibri"/>
              </a:rPr>
              <a:t> Simulate → model the twin → predict → sync deltas → act. Prototype built and deployed; next, real sensors replace the simulator through an MQTT adapter.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commit-cr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9184"/>
            <a:ext cx="2057400" cy="533894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411480" y="1188720"/>
            <a:ext cx="5120640" cy="5074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2F5597"/>
                </a:solidFill>
                <a:latin typeface="Calibri"/>
              </a:rPr>
              <a:t>❖ </a:t>
            </a:r>
            <a:r>
              <a:rPr sz="1500" b="1" i="0">
                <a:solidFill>
                  <a:srgbClr val="2F5597"/>
                </a:solidFill>
                <a:latin typeface="Calibri"/>
              </a:rPr>
              <a:t>Analysis of the feasibility of the idea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Technical:</a:t>
            </a:r>
            <a:r>
              <a:rPr sz="1250" b="0" i="0">
                <a:solidFill>
                  <a:srgbClr val="0F1F33"/>
                </a:solidFill>
                <a:latin typeface="Calibri"/>
              </a:rPr>
              <a:t> end-to-end prototype already running: live website, Android APK, realtime database and AI copilot.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Bandwidth:</a:t>
            </a:r>
            <a:r>
              <a:rPr sz="1250" b="0" i="0">
                <a:solidFill>
                  <a:srgbClr val="0F1F33"/>
                </a:solidFill>
                <a:latin typeface="Calibri"/>
              </a:rPr>
              <a:t> ≈0.5 KB delta per sync instead of ≈30 MB, fits a constrained satellite link.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Cost:</a:t>
            </a:r>
            <a:r>
              <a:rPr sz="1250" b="0" i="0">
                <a:solidFill>
                  <a:srgbClr val="0F1F33"/>
                </a:solidFill>
                <a:latin typeface="Calibri"/>
              </a:rPr>
              <a:t> open-source frameworks and free tiers; one small edge box per station.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Operational:</a:t>
            </a:r>
            <a:r>
              <a:rPr sz="1250" b="0" i="0">
                <a:solidFill>
                  <a:srgbClr val="0F1F33"/>
                </a:solidFill>
                <a:latin typeface="Calibri"/>
              </a:rPr>
              <a:t> dashboard and app need no special hardware; works in English and Hindi.</a:t>
            </a:r>
          </a:p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2F5597"/>
                </a:solidFill>
                <a:latin typeface="Calibri"/>
              </a:rPr>
              <a:t>❖ </a:t>
            </a:r>
            <a:r>
              <a:rPr sz="1500" b="1" i="0">
                <a:solidFill>
                  <a:srgbClr val="2F5597"/>
                </a:solidFill>
                <a:latin typeface="Calibri"/>
              </a:rPr>
              <a:t>Phased rollout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0" i="0">
                <a:solidFill>
                  <a:srgbClr val="0F1F33"/>
                </a:solidFill>
                <a:latin typeface="Calibri"/>
              </a:rPr>
              <a:t>Phase 1: pilot at Maitri with generator, fuel and weather sensors.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0" i="0">
                <a:solidFill>
                  <a:srgbClr val="0F1F33"/>
                </a:solidFill>
                <a:latin typeface="Calibri"/>
              </a:rPr>
              <a:t>Phase 2: add Bharati and inventory linked to the ISEA ship manifest.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0" i="0">
                <a:solidFill>
                  <a:srgbClr val="0F1F33"/>
                </a:solidFill>
                <a:latin typeface="Calibri"/>
              </a:rPr>
              <a:t>Phase 3: full building systems, maintenance history, offline voice copilot.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897880" y="1243584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150" b="1" i="0">
                <a:solidFill>
                  <a:srgbClr val="2F5597"/>
                </a:solidFill>
                <a:latin typeface="Calibri"/>
              </a:rPr>
              <a:t>❖ </a:t>
            </a:r>
            <a:r>
              <a:rPr sz="1150" b="1" i="0">
                <a:solidFill>
                  <a:srgbClr val="2F5597"/>
                </a:solidFill>
                <a:latin typeface="Calibri"/>
              </a:rPr>
              <a:t>Potential challenges and risks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961120" y="1243584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150" b="1" i="0">
                <a:solidFill>
                  <a:srgbClr val="2F5597"/>
                </a:solidFill>
                <a:latin typeface="Calibri"/>
              </a:rPr>
              <a:t>❖ </a:t>
            </a:r>
            <a:r>
              <a:rPr sz="1150" b="1" i="0">
                <a:solidFill>
                  <a:srgbClr val="2F5597"/>
                </a:solidFill>
                <a:latin typeface="Calibri"/>
              </a:rPr>
              <a:t>Strategies for overcoming these challenges</a:t>
            </a:r>
          </a:p>
        </p:txBody>
      </p:sp>
      <p:pic>
        <p:nvPicPr>
          <p:cNvPr id="17415" name="Picture 17414" descr="feasi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874519"/>
            <a:ext cx="5943600" cy="3152846"/>
          </a:xfrm>
          <a:prstGeom prst="rect">
            <a:avLst/>
          </a:prstGeom>
        </p:spPr>
      </p:pic>
      <p:sp>
        <p:nvSpPr>
          <p:cNvPr id="17416" name="Rounded Rectangle 17415"/>
          <p:cNvSpPr/>
          <p:nvPr/>
        </p:nvSpPr>
        <p:spPr>
          <a:xfrm>
            <a:off x="411480" y="5257800"/>
            <a:ext cx="1615440" cy="868680"/>
          </a:xfrm>
          <a:prstGeom prst="roundRect">
            <a:avLst>
              <a:gd name="adj" fmla="val 8000"/>
            </a:avLst>
          </a:prstGeom>
          <a:solidFill>
            <a:srgbClr val="E7F1FD"/>
          </a:solidFill>
          <a:ln w="12700">
            <a:solidFill>
              <a:srgbClr val="C6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548640" y="5349240"/>
            <a:ext cx="1341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2200" b="1" i="0">
                <a:solidFill>
                  <a:srgbClr val="1D4F86"/>
                </a:solidFill>
                <a:latin typeface="Calibri"/>
              </a:rPr>
              <a:t>2 apps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48640" y="5760720"/>
            <a:ext cx="134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5A6B80"/>
                </a:solidFill>
                <a:latin typeface="Calibri"/>
              </a:rPr>
              <a:t>web + Android, live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2164080" y="5257800"/>
            <a:ext cx="1615440" cy="868680"/>
          </a:xfrm>
          <a:prstGeom prst="roundRect">
            <a:avLst>
              <a:gd name="adj" fmla="val 8000"/>
            </a:avLst>
          </a:prstGeom>
          <a:solidFill>
            <a:srgbClr val="E7F1FD"/>
          </a:solidFill>
          <a:ln w="12700">
            <a:solidFill>
              <a:srgbClr val="C6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2301240" y="5349240"/>
            <a:ext cx="1341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2200" b="1" i="0">
                <a:solidFill>
                  <a:srgbClr val="1D4F86"/>
                </a:solidFill>
                <a:latin typeface="Calibri"/>
              </a:rPr>
              <a:t>9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301240" y="5760720"/>
            <a:ext cx="134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5A6B80"/>
                </a:solidFill>
                <a:latin typeface="Calibri"/>
              </a:rPr>
              <a:t>dashboard modules built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916680" y="5257800"/>
            <a:ext cx="1615440" cy="868680"/>
          </a:xfrm>
          <a:prstGeom prst="roundRect">
            <a:avLst>
              <a:gd name="adj" fmla="val 8000"/>
            </a:avLst>
          </a:prstGeom>
          <a:solidFill>
            <a:srgbClr val="E7F1FD"/>
          </a:solidFill>
          <a:ln w="12700">
            <a:solidFill>
              <a:srgbClr val="C6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4053840" y="5349240"/>
            <a:ext cx="1341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2200" b="1" i="0">
                <a:solidFill>
                  <a:srgbClr val="1D4F86"/>
                </a:solidFill>
                <a:latin typeface="Calibri"/>
              </a:rPr>
              <a:t>≈0.5 KB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053840" y="5760720"/>
            <a:ext cx="134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5A6B80"/>
                </a:solidFill>
                <a:latin typeface="Calibri"/>
              </a:rPr>
              <a:t>per satellite sync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commit-cr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9184"/>
            <a:ext cx="2057400" cy="533894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411480" y="1188720"/>
            <a:ext cx="5486400" cy="5074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2F5597"/>
                </a:solidFill>
                <a:latin typeface="Calibri"/>
              </a:rPr>
              <a:t>❖ </a:t>
            </a:r>
            <a:r>
              <a:rPr sz="1500" b="1" i="0">
                <a:solidFill>
                  <a:srgbClr val="2F5597"/>
                </a:solidFill>
                <a:latin typeface="Calibri"/>
              </a:rPr>
              <a:t>Potential impact on the target audience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NCPOR Goa:</a:t>
            </a:r>
            <a:r>
              <a:rPr sz="1250" b="0" i="0">
                <a:solidFill>
                  <a:srgbClr val="0F1F33"/>
                </a:solidFill>
                <a:latin typeface="Calibri"/>
              </a:rPr>
              <a:t> live view of both stations, early warnings, one-click compliance reports.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Station leader &amp; crew:</a:t>
            </a:r>
            <a:r>
              <a:rPr sz="1250" b="0" i="0">
                <a:solidFill>
                  <a:srgbClr val="0F1F33"/>
                </a:solidFill>
                <a:latin typeface="Calibri"/>
              </a:rPr>
              <a:t> SOS, overdue-trip alarms, go / no-go before every field trip.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Logistics planners (ISEA):</a:t>
            </a:r>
            <a:r>
              <a:rPr sz="1250" b="0" i="0">
                <a:solidFill>
                  <a:srgbClr val="0F1F33"/>
                </a:solidFill>
                <a:latin typeface="Calibri"/>
              </a:rPr>
              <a:t> know what runs out before resupply and plan the ship load.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MoES:</a:t>
            </a:r>
            <a:r>
              <a:rPr sz="1250" b="0" i="0">
                <a:solidFill>
                  <a:srgbClr val="0F1F33"/>
                </a:solidFill>
                <a:latin typeface="Calibri"/>
              </a:rPr>
              <a:t> data-backed planning for future stations and budgets.</a:t>
            </a:r>
          </a:p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2F5597"/>
                </a:solidFill>
                <a:latin typeface="Calibri"/>
              </a:rPr>
              <a:t>❖ </a:t>
            </a:r>
            <a:r>
              <a:rPr sz="1500" b="1" i="0">
                <a:solidFill>
                  <a:srgbClr val="2F5597"/>
                </a:solidFill>
                <a:latin typeface="Calibri"/>
              </a:rPr>
              <a:t>Benefits of the solution (social, economic, environmental, etc.)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Social:</a:t>
            </a:r>
            <a:r>
              <a:rPr sz="1250" b="0" i="0">
                <a:solidFill>
                  <a:srgbClr val="0F1F33"/>
                </a:solidFill>
                <a:latin typeface="Calibri"/>
              </a:rPr>
              <a:t> safer field work, faster emergency response, anonymous crew wellbeing tracking.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Economic:</a:t>
            </a:r>
            <a:r>
              <a:rPr sz="1250" b="0" i="0">
                <a:solidFill>
                  <a:srgbClr val="0F1F33"/>
                </a:solidFill>
                <a:latin typeface="Calibri"/>
              </a:rPr>
              <a:t> less diesel waste, fewer breakdowns, fewer emergency resupplies.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Environmental:</a:t>
            </a:r>
            <a:r>
              <a:rPr sz="1250" b="0" i="0">
                <a:solidFill>
                  <a:srgbClr val="0F1F33"/>
                </a:solidFill>
                <a:latin typeface="Calibri"/>
              </a:rPr>
              <a:t> CO₂, waste and spill tracking under the Madrid Protocol and Indian Antarctic Act 2022.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250" b="1" i="0">
                <a:solidFill>
                  <a:srgbClr val="0F1F33"/>
                </a:solidFill>
                <a:highlight>
                  <a:srgbClr val="FFE699"/>
                </a:highlight>
                <a:latin typeface="Calibri"/>
              </a:rPr>
              <a:t>Strategic:</a:t>
            </a:r>
            <a:r>
              <a:rPr sz="1250" b="0" i="0">
                <a:solidFill>
                  <a:srgbClr val="0F1F33"/>
                </a:solidFill>
                <a:latin typeface="Calibri"/>
              </a:rPr>
              <a:t> strengthens India's polar research presence with home-grown technology.</a:t>
            </a:r>
          </a:p>
        </p:txBody>
      </p:sp>
      <p:pic>
        <p:nvPicPr>
          <p:cNvPr id="17413" name="Picture 17412" descr="imp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325880"/>
            <a:ext cx="5669280" cy="3090087"/>
          </a:xfrm>
          <a:prstGeom prst="rect">
            <a:avLst/>
          </a:prstGeom>
        </p:spPr>
      </p:pic>
      <p:sp>
        <p:nvSpPr>
          <p:cNvPr id="17414" name="Rounded Rectangle 17413"/>
          <p:cNvSpPr/>
          <p:nvPr/>
        </p:nvSpPr>
        <p:spPr>
          <a:xfrm>
            <a:off x="6263640" y="5120640"/>
            <a:ext cx="1752600" cy="868680"/>
          </a:xfrm>
          <a:prstGeom prst="roundRect">
            <a:avLst>
              <a:gd name="adj" fmla="val 8000"/>
            </a:avLst>
          </a:prstGeom>
          <a:solidFill>
            <a:srgbClr val="E7F1FD"/>
          </a:solidFill>
          <a:ln w="12700">
            <a:solidFill>
              <a:srgbClr val="C6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6400800" y="5212079"/>
            <a:ext cx="1478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2200" b="1" i="0">
                <a:solidFill>
                  <a:srgbClr val="1D4F86"/>
                </a:solidFill>
                <a:latin typeface="Calibri"/>
              </a:rPr>
              <a:t>5 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400800" y="5623559"/>
            <a:ext cx="1478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5A6B80"/>
                </a:solidFill>
                <a:latin typeface="Calibri"/>
              </a:rPr>
              <a:t>live refresh in Goa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53399" y="5120640"/>
            <a:ext cx="1752600" cy="868680"/>
          </a:xfrm>
          <a:prstGeom prst="roundRect">
            <a:avLst>
              <a:gd name="adj" fmla="val 8000"/>
            </a:avLst>
          </a:prstGeom>
          <a:solidFill>
            <a:srgbClr val="E7F1FD"/>
          </a:solidFill>
          <a:ln w="12700">
            <a:solidFill>
              <a:srgbClr val="C6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8290560" y="5212079"/>
            <a:ext cx="1478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2200" b="1" i="0">
                <a:solidFill>
                  <a:srgbClr val="1D4F86"/>
                </a:solidFill>
                <a:latin typeface="Calibri"/>
              </a:rPr>
              <a:t>60,000×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290560" y="5623559"/>
            <a:ext cx="1478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5A6B80"/>
                </a:solidFill>
                <a:latin typeface="Calibri"/>
              </a:rPr>
              <a:t>smaller syncs than full state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10043160" y="5120640"/>
            <a:ext cx="1752600" cy="868680"/>
          </a:xfrm>
          <a:prstGeom prst="roundRect">
            <a:avLst>
              <a:gd name="adj" fmla="val 8000"/>
            </a:avLst>
          </a:prstGeom>
          <a:solidFill>
            <a:srgbClr val="E7F1FD"/>
          </a:solidFill>
          <a:ln w="12700">
            <a:solidFill>
              <a:srgbClr val="C6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10180320" y="5212079"/>
            <a:ext cx="1478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2200" b="1" i="0">
                <a:solidFill>
                  <a:srgbClr val="1D4F86"/>
                </a:solidFill>
                <a:latin typeface="Calibri"/>
              </a:rPr>
              <a:t>48 h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0180320" y="5623559"/>
            <a:ext cx="1478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5A6B80"/>
                </a:solidFill>
                <a:latin typeface="Calibri"/>
              </a:rPr>
              <a:t>forecast behind go / no-go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commit-cr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9184"/>
            <a:ext cx="2057400" cy="533894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411480" y="1188720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2F5597"/>
                </a:solidFill>
                <a:latin typeface="Calibri"/>
              </a:rPr>
              <a:t>❖ </a:t>
            </a:r>
            <a:r>
              <a:rPr sz="1500" b="1" i="0">
                <a:solidFill>
                  <a:srgbClr val="2F5597"/>
                </a:solidFill>
                <a:latin typeface="Calibri"/>
              </a:rPr>
              <a:t>Details / Links of the reference and research work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1783080"/>
            <a:ext cx="57150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D4F86"/>
                </a:solidFill>
                <a:latin typeface="Calibri"/>
              </a:rPr>
              <a:t>Domain &amp; policy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400" b="0" i="0">
                <a:solidFill>
                  <a:srgbClr val="0F1F33"/>
                </a:solidFill>
                <a:latin typeface="Calibri"/>
              </a:rPr>
              <a:t>NCPOR, Ministry of Earth Sciences: ncpor.res.in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400" b="0" i="0">
                <a:solidFill>
                  <a:srgbClr val="0F1F33"/>
                </a:solidFill>
                <a:latin typeface="Calibri"/>
              </a:rPr>
              <a:t>Maitri station: en.wikipedia.org/wiki/Maitri_(research_station)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400" b="0" i="0">
                <a:solidFill>
                  <a:srgbClr val="0F1F33"/>
                </a:solidFill>
                <a:latin typeface="Calibri"/>
              </a:rPr>
              <a:t>Bharati station: en.wikipedia.org/wiki/Bharati_(research_station)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400" b="0" i="0">
                <a:solidFill>
                  <a:srgbClr val="0F1F33"/>
                </a:solidFill>
                <a:latin typeface="Calibri"/>
              </a:rPr>
              <a:t>Protocol on Environmental Protection (Madrid Protocol): ats.aq/e/protocol.html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400" b="0" i="0">
                <a:solidFill>
                  <a:srgbClr val="0F1F33"/>
                </a:solidFill>
                <a:latin typeface="Calibri"/>
              </a:rPr>
              <a:t>Indian Antarctic Act, 2022, Ministry of Earth Sciences: moes.gov.in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400" b="0" i="0">
                <a:solidFill>
                  <a:srgbClr val="0F1F33"/>
                </a:solidFill>
                <a:latin typeface="Calibri"/>
              </a:rPr>
              <a:t>COMNAP, Council of Managers of National Antarctic Programs: comnap.aq</a:t>
            </a:r>
          </a:p>
          <a:p>
            <a:pPr>
              <a:buNone/>
            </a:pPr>
            <a:r>
              <a:rPr sz="1000" b="0" i="0">
                <a:solidFill>
                  <a:srgbClr val="0F1F33"/>
                </a:solidFill>
                <a:latin typeface="Calibri"/>
              </a:rPr>
              <a:t> </a:t>
            </a:r>
          </a:p>
          <a:p>
            <a:pPr>
              <a:buNone/>
            </a:pPr>
            <a:r>
              <a:rPr sz="1400" b="1" i="0">
                <a:solidFill>
                  <a:srgbClr val="1D4F86"/>
                </a:solidFill>
                <a:latin typeface="Calibri"/>
              </a:rPr>
              <a:t>Research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400" b="0" i="0">
                <a:solidFill>
                  <a:srgbClr val="0F1F33"/>
                </a:solidFill>
                <a:latin typeface="Calibri"/>
              </a:rPr>
              <a:t>M. Grieves, Digital Twin: Manufacturing Excellence through Virtual Factory Replication (white paper, 2014)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400" b="0" i="0">
                <a:solidFill>
                  <a:srgbClr val="0F1F33"/>
                </a:solidFill>
                <a:latin typeface="Calibri"/>
              </a:rPr>
              <a:t>Digital twin overview: en.wikipedia.org/wiki/Digital_twin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355080" y="1783080"/>
            <a:ext cx="39319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D4F86"/>
                </a:solidFill>
                <a:latin typeface="Calibri"/>
              </a:rPr>
              <a:t>Technology documentation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400" b="0" i="0">
                <a:solidFill>
                  <a:srgbClr val="0F1F33"/>
                </a:solidFill>
                <a:latin typeface="Calibri"/>
              </a:rPr>
              <a:t>Open-Meteo weather API: open-meteo.com/en/docs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400" b="0" i="0">
                <a:solidFill>
                  <a:srgbClr val="0F1F33"/>
                </a:solidFill>
                <a:latin typeface="Calibri"/>
              </a:rPr>
              <a:t>Supabase Realtime: supabase.com/docs/guides/realtime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400" b="0" i="0">
                <a:solidFill>
                  <a:srgbClr val="0F1F33"/>
                </a:solidFill>
                <a:latin typeface="Calibri"/>
              </a:rPr>
              <a:t>Next.js: nextjs.org/docs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400" b="0" i="0">
                <a:solidFill>
                  <a:srgbClr val="0F1F33"/>
                </a:solidFill>
                <a:latin typeface="Calibri"/>
              </a:rPr>
              <a:t>Expo EAS Build: docs.expo.dev/build/introduction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400" b="0" i="0">
                <a:solidFill>
                  <a:srgbClr val="0F1F33"/>
                </a:solidFill>
                <a:latin typeface="Calibri"/>
              </a:rPr>
              <a:t>Gemini API: ai.google.dev/gemini-api/docs</a:t>
            </a:r>
          </a:p>
          <a:p>
            <a:pPr>
              <a:buNone/>
            </a:pPr>
            <a:r>
              <a:rPr sz="1000" b="0" i="0">
                <a:solidFill>
                  <a:srgbClr val="0F1F33"/>
                </a:solidFill>
                <a:latin typeface="Calibri"/>
              </a:rPr>
              <a:t> </a:t>
            </a:r>
          </a:p>
          <a:p>
            <a:pPr>
              <a:buNone/>
            </a:pPr>
            <a:r>
              <a:rPr sz="1400" b="1" i="0">
                <a:solidFill>
                  <a:srgbClr val="1D4F86"/>
                </a:solidFill>
                <a:latin typeface="Calibri"/>
              </a:rPr>
              <a:t>Our prototype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400" b="0" i="0">
                <a:solidFill>
                  <a:srgbClr val="0F1F33"/>
                </a:solidFill>
                <a:latin typeface="Calibri"/>
              </a:rPr>
              <a:t>Live dashboard: polaris-twin-psi.vercel.app</a:t>
            </a:r>
          </a:p>
          <a:p>
            <a:pPr marL="164592" indent="-164592">
              <a:spcAft>
                <a:spcPts val="200"/>
              </a:spcAft>
              <a:buClr>
                <a:srgbClr val="2F5597"/>
              </a:buClr>
              <a:buFont typeface="Arial"/>
              <a:buChar char="•"/>
            </a:pPr>
            <a:r>
              <a:rPr sz="1400" b="0" i="0">
                <a:solidFill>
                  <a:srgbClr val="0F1F33"/>
                </a:solidFill>
                <a:latin typeface="Calibri"/>
              </a:rPr>
              <a:t>Demo login shown on the sign-in page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10378440" y="1783080"/>
            <a:ext cx="15087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E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6" name="Picture 17415" descr="qr-s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1874519"/>
            <a:ext cx="1234440" cy="123444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10424160" y="3154680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5A6B80"/>
                </a:solidFill>
                <a:latin typeface="Calibri"/>
              </a:rPr>
              <a:t>Scan for the live prototype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